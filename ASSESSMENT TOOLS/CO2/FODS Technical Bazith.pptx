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35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5242" y="1396152"/>
            <a:ext cx="7391183" cy="6902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134" y="2579829"/>
            <a:ext cx="7365365" cy="276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50951" y="2371681"/>
            <a:ext cx="627888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/>
              <a:t>Missing</a:t>
            </a:r>
            <a:r>
              <a:rPr sz="3300" spc="-25" dirty="0"/>
              <a:t> </a:t>
            </a:r>
            <a:r>
              <a:rPr sz="3300" dirty="0"/>
              <a:t>Data</a:t>
            </a:r>
            <a:r>
              <a:rPr sz="3300" spc="-25" dirty="0"/>
              <a:t> </a:t>
            </a:r>
            <a:r>
              <a:rPr sz="3300" dirty="0"/>
              <a:t>Handling</a:t>
            </a:r>
            <a:r>
              <a:rPr sz="3300" spc="-80" dirty="0"/>
              <a:t> </a:t>
            </a:r>
            <a:r>
              <a:rPr sz="3300" spc="-25" dirty="0"/>
              <a:t>Techniques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666750" y="4256411"/>
            <a:ext cx="3528060" cy="1312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Supervisor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By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b="1" spc="-40" dirty="0">
                <a:latin typeface="Times New Roman"/>
                <a:cs typeface="Times New Roman"/>
              </a:rPr>
              <a:t>Dr. </a:t>
            </a:r>
            <a:r>
              <a:rPr sz="1600" b="1" dirty="0">
                <a:latin typeface="Times New Roman"/>
                <a:cs typeface="Times New Roman"/>
              </a:rPr>
              <a:t>Krishna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raj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Mony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600" b="1" spc="-10" dirty="0">
                <a:latin typeface="Times New Roman"/>
                <a:cs typeface="Times New Roman"/>
              </a:rPr>
              <a:t>Associate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Professor/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Department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CSE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600" b="1" dirty="0">
                <a:latin typeface="Times New Roman"/>
                <a:cs typeface="Times New Roman"/>
              </a:rPr>
              <a:t>Saveetha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School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Engineering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6801" y="4286796"/>
            <a:ext cx="2818765" cy="109773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400" b="1" spc="-10" dirty="0">
                <a:latin typeface="Times New Roman"/>
                <a:cs typeface="Times New Roman"/>
              </a:rPr>
              <a:t>Students</a:t>
            </a:r>
            <a:endParaRPr sz="2400" dirty="0">
              <a:latin typeface="Times New Roman"/>
              <a:cs typeface="Times New Roman"/>
            </a:endParaRPr>
          </a:p>
          <a:p>
            <a:pPr marL="12700" marR="5080">
              <a:lnSpc>
                <a:spcPct val="128600"/>
              </a:lnSpc>
              <a:spcBef>
                <a:spcPts val="35"/>
              </a:spcBef>
            </a:pPr>
            <a:r>
              <a:rPr lang="en-US" sz="1600" b="1" spc="-10" dirty="0">
                <a:latin typeface="Times New Roman"/>
                <a:cs typeface="Times New Roman"/>
              </a:rPr>
              <a:t> Mohamed </a:t>
            </a:r>
            <a:r>
              <a:rPr lang="en-US" sz="1600" b="1" spc="-10" dirty="0" err="1">
                <a:latin typeface="Times New Roman"/>
                <a:cs typeface="Times New Roman"/>
              </a:rPr>
              <a:t>Bazith</a:t>
            </a:r>
            <a:r>
              <a:rPr sz="1600" b="1" spc="-10">
                <a:latin typeface="Times New Roman"/>
                <a:cs typeface="Times New Roman"/>
              </a:rPr>
              <a:t>(192</a:t>
            </a:r>
            <a:r>
              <a:rPr lang="en-US" sz="1600" b="1" spc="-10">
                <a:latin typeface="Times New Roman"/>
                <a:cs typeface="Times New Roman"/>
              </a:rPr>
              <a:t>4472052</a:t>
            </a:r>
            <a:r>
              <a:rPr sz="1600" b="1" spc="-10">
                <a:latin typeface="Times New Roman"/>
                <a:cs typeface="Times New Roman"/>
              </a:rPr>
              <a:t>) </a:t>
            </a:r>
            <a:r>
              <a:rPr sz="1600" b="1" dirty="0">
                <a:latin typeface="Times New Roman"/>
                <a:cs typeface="Times New Roman"/>
              </a:rPr>
              <a:t>Saveetha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School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Engineering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09571"/>
            <a:ext cx="7238999" cy="110962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35172" y="3260590"/>
            <a:ext cx="3874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DSA0405-</a:t>
            </a:r>
            <a:r>
              <a:rPr sz="1800" b="1" dirty="0">
                <a:latin typeface="Times New Roman"/>
                <a:cs typeface="Times New Roman"/>
              </a:rPr>
              <a:t>Fundamental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Data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Science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045">
              <a:lnSpc>
                <a:spcPct val="1000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spc="-8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Missing</a:t>
            </a:r>
            <a:r>
              <a:rPr spc="-70" dirty="0"/>
              <a:t> </a:t>
            </a:r>
            <a:r>
              <a:rPr spc="-20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09571"/>
            <a:ext cx="7238999" cy="11096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0734" y="2301240"/>
            <a:ext cx="6854190" cy="27686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16865" algn="l"/>
              </a:tabLst>
            </a:pPr>
            <a:r>
              <a:rPr sz="2000" dirty="0">
                <a:latin typeface="Times New Roman"/>
                <a:cs typeface="Times New Roman"/>
              </a:rPr>
              <a:t>Missing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unavailable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empty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dataset.</a:t>
            </a:r>
            <a:endParaRPr sz="2000">
              <a:latin typeface="Times New Roman"/>
              <a:cs typeface="Times New Roman"/>
            </a:endParaRPr>
          </a:p>
          <a:p>
            <a:pPr marL="316865" indent="-3041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1686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issue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during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collection.</a:t>
            </a:r>
            <a:endParaRPr sz="2000">
              <a:latin typeface="Times New Roman"/>
              <a:cs typeface="Times New Roman"/>
            </a:endParaRPr>
          </a:p>
          <a:p>
            <a:pPr marL="316865" indent="-3041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16865" algn="l"/>
              </a:tabLst>
            </a:pPr>
            <a:r>
              <a:rPr sz="2000" dirty="0">
                <a:latin typeface="Times New Roman"/>
                <a:cs typeface="Times New Roman"/>
              </a:rPr>
              <a:t>Missing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NaN,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NULL,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blank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cells.</a:t>
            </a:r>
            <a:endParaRPr sz="2000">
              <a:latin typeface="Times New Roman"/>
              <a:cs typeface="Times New Roman"/>
            </a:endParaRPr>
          </a:p>
          <a:p>
            <a:pPr marL="316865" indent="-3041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16865" algn="l"/>
              </a:tabLst>
            </a:pPr>
            <a:r>
              <a:rPr sz="2000" dirty="0">
                <a:latin typeface="Times New Roman"/>
                <a:cs typeface="Times New Roman"/>
              </a:rPr>
              <a:t>Poor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quality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affect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predictions.</a:t>
            </a:r>
            <a:endParaRPr sz="2000">
              <a:latin typeface="Times New Roman"/>
              <a:cs typeface="Times New Roman"/>
            </a:endParaRPr>
          </a:p>
          <a:p>
            <a:pPr marL="316865" indent="-3041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16865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preprocessing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missing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values.</a:t>
            </a:r>
            <a:endParaRPr sz="2000">
              <a:latin typeface="Times New Roman"/>
              <a:cs typeface="Times New Roman"/>
            </a:endParaRPr>
          </a:p>
          <a:p>
            <a:pPr marL="316865" indent="-3041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16865" algn="l"/>
              </a:tabLst>
            </a:pPr>
            <a:r>
              <a:rPr sz="2000" dirty="0">
                <a:latin typeface="Times New Roman"/>
                <a:cs typeface="Times New Roman"/>
              </a:rPr>
              <a:t>Proper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handling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improves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accuracy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reliability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results.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938" rIns="0" bIns="0" rtlCol="0">
            <a:spAutoFit/>
          </a:bodyPr>
          <a:lstStyle/>
          <a:p>
            <a:pPr marL="191770">
              <a:lnSpc>
                <a:spcPct val="100000"/>
              </a:lnSpc>
              <a:spcBef>
                <a:spcPts val="100"/>
              </a:spcBef>
            </a:pPr>
            <a:r>
              <a:rPr dirty="0"/>
              <a:t>Causes</a:t>
            </a:r>
            <a:r>
              <a:rPr spc="-60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20" dirty="0"/>
              <a:t>Types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Missing</a:t>
            </a:r>
            <a:r>
              <a:rPr spc="-50" dirty="0"/>
              <a:t> </a:t>
            </a:r>
            <a:r>
              <a:rPr spc="-20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09571"/>
            <a:ext cx="7238999" cy="11096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0998" y="2421914"/>
            <a:ext cx="7642225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228600" indent="-3048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16865" algn="l"/>
              </a:tabLst>
            </a:pP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entry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errors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occur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human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mistakes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recording information.</a:t>
            </a:r>
            <a:endParaRPr sz="2000">
              <a:latin typeface="Times New Roman"/>
              <a:cs typeface="Times New Roman"/>
            </a:endParaRPr>
          </a:p>
          <a:p>
            <a:pPr marL="316865" marR="1049655" indent="-304800">
              <a:lnSpc>
                <a:spcPct val="100000"/>
              </a:lnSpc>
              <a:buFont typeface="Arial"/>
              <a:buChar char="•"/>
              <a:tabLst>
                <a:tab pos="316865" algn="l"/>
              </a:tabLst>
            </a:pPr>
            <a:r>
              <a:rPr sz="2000" b="1" dirty="0">
                <a:latin typeface="Times New Roman"/>
                <a:cs typeface="Times New Roman"/>
              </a:rPr>
              <a:t>Sensor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device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failures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incomplete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missing measurements.</a:t>
            </a:r>
            <a:endParaRPr sz="2000">
              <a:latin typeface="Times New Roman"/>
              <a:cs typeface="Times New Roman"/>
            </a:endParaRPr>
          </a:p>
          <a:p>
            <a:pPr marL="316865" marR="318770" indent="-304800">
              <a:lnSpc>
                <a:spcPct val="100000"/>
              </a:lnSpc>
              <a:buFont typeface="Arial"/>
              <a:buChar char="•"/>
              <a:tabLst>
                <a:tab pos="316865" algn="l"/>
              </a:tabLst>
            </a:pPr>
            <a:r>
              <a:rPr sz="2000" b="1" dirty="0">
                <a:latin typeface="Times New Roman"/>
                <a:cs typeface="Times New Roman"/>
              </a:rPr>
              <a:t>Incomplete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survey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responses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happen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participants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skip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certain questions.</a:t>
            </a:r>
            <a:endParaRPr sz="2000">
              <a:latin typeface="Times New Roman"/>
              <a:cs typeface="Times New Roman"/>
            </a:endParaRPr>
          </a:p>
          <a:p>
            <a:pPr marL="316865" marR="567690" indent="-304800">
              <a:lnSpc>
                <a:spcPct val="100000"/>
              </a:lnSpc>
              <a:buFont typeface="Arial"/>
              <a:buChar char="•"/>
              <a:tabLst>
                <a:tab pos="316865" algn="l"/>
              </a:tabLst>
            </a:pPr>
            <a:r>
              <a:rPr sz="2000" b="1" dirty="0">
                <a:latin typeface="Times New Roman"/>
                <a:cs typeface="Times New Roman"/>
              </a:rPr>
              <a:t>MCAR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(Missing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Completely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Random):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Missing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occur </a:t>
            </a:r>
            <a:r>
              <a:rPr sz="2000" dirty="0">
                <a:latin typeface="Times New Roman"/>
                <a:cs typeface="Times New Roman"/>
              </a:rPr>
              <a:t>randomly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specific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reason.</a:t>
            </a:r>
            <a:endParaRPr sz="2000">
              <a:latin typeface="Times New Roman"/>
              <a:cs typeface="Times New Roman"/>
            </a:endParaRPr>
          </a:p>
          <a:p>
            <a:pPr marL="316865" marR="5080" indent="-304800">
              <a:lnSpc>
                <a:spcPct val="100000"/>
              </a:lnSpc>
              <a:buFont typeface="Arial"/>
              <a:buChar char="•"/>
              <a:tabLst>
                <a:tab pos="316865" algn="l"/>
              </a:tabLst>
            </a:pPr>
            <a:r>
              <a:rPr sz="2000" b="1" dirty="0">
                <a:latin typeface="Times New Roman"/>
                <a:cs typeface="Times New Roman"/>
              </a:rPr>
              <a:t>MAR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(Missing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Random):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Missing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depend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10" dirty="0">
                <a:latin typeface="Times New Roman"/>
                <a:cs typeface="Times New Roman"/>
              </a:rPr>
              <a:t> available </a:t>
            </a:r>
            <a:r>
              <a:rPr sz="2000" dirty="0">
                <a:latin typeface="Times New Roman"/>
                <a:cs typeface="Times New Roman"/>
              </a:rPr>
              <a:t>variables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dataset.</a:t>
            </a:r>
            <a:endParaRPr sz="2000">
              <a:latin typeface="Times New Roman"/>
              <a:cs typeface="Times New Roman"/>
            </a:endParaRPr>
          </a:p>
          <a:p>
            <a:pPr marL="316865" marR="553720" indent="-304800">
              <a:lnSpc>
                <a:spcPct val="100000"/>
              </a:lnSpc>
              <a:buFont typeface="Arial"/>
              <a:buChar char="•"/>
              <a:tabLst>
                <a:tab pos="316865" algn="l"/>
              </a:tabLst>
            </a:pPr>
            <a:r>
              <a:rPr sz="2000" b="1" dirty="0">
                <a:latin typeface="Times New Roman"/>
                <a:cs typeface="Times New Roman"/>
              </a:rPr>
              <a:t>MNAR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(Missing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Random):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Missing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depend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missing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itself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hidden </a:t>
            </a:r>
            <a:r>
              <a:rPr sz="2000" spc="-10" dirty="0">
                <a:latin typeface="Times New Roman"/>
                <a:cs typeface="Times New Roman"/>
              </a:rPr>
              <a:t>factors.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Missing</a:t>
            </a:r>
            <a:r>
              <a:rPr spc="-30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Handling</a:t>
            </a:r>
            <a:r>
              <a:rPr spc="-85" dirty="0"/>
              <a:t> </a:t>
            </a:r>
            <a:r>
              <a:rPr spc="-25" dirty="0"/>
              <a:t>Techniques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09571"/>
            <a:ext cx="7238999" cy="11096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9926" y="2279236"/>
            <a:ext cx="7428230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marR="5080" indent="-317500">
              <a:lnSpc>
                <a:spcPct val="100000"/>
              </a:lnSpc>
              <a:spcBef>
                <a:spcPts val="100"/>
              </a:spcBef>
              <a:buFont typeface="Arial Black"/>
              <a:buChar char="□"/>
              <a:tabLst>
                <a:tab pos="331470" algn="l"/>
              </a:tabLst>
            </a:pPr>
            <a:r>
              <a:rPr sz="2000" b="1" dirty="0">
                <a:latin typeface="Times New Roman"/>
                <a:cs typeface="Times New Roman"/>
              </a:rPr>
              <a:t>Remove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Rows: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Delete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missing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are 	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few.</a:t>
            </a:r>
            <a:endParaRPr sz="2000">
              <a:latin typeface="Times New Roman"/>
              <a:cs typeface="Times New Roman"/>
            </a:endParaRPr>
          </a:p>
          <a:p>
            <a:pPr marL="329565" marR="52705" indent="-317500">
              <a:lnSpc>
                <a:spcPct val="100000"/>
              </a:lnSpc>
              <a:buFont typeface="Arial Black"/>
              <a:buChar char="□"/>
              <a:tabLst>
                <a:tab pos="331470" algn="l"/>
              </a:tabLst>
            </a:pPr>
            <a:r>
              <a:rPr sz="2000" b="1" dirty="0">
                <a:latin typeface="Times New Roman"/>
                <a:cs typeface="Times New Roman"/>
              </a:rPr>
              <a:t>Remove</a:t>
            </a:r>
            <a:r>
              <a:rPr sz="2000" b="1" spc="7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Columns:</a:t>
            </a:r>
            <a:r>
              <a:rPr sz="2000" b="1" spc="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Eliminate</a:t>
            </a:r>
            <a:r>
              <a:rPr sz="2000" spc="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columns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large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8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of 	</a:t>
            </a:r>
            <a:r>
              <a:rPr sz="2000" dirty="0">
                <a:latin typeface="Times New Roman"/>
                <a:cs typeface="Times New Roman"/>
              </a:rPr>
              <a:t>missing </a:t>
            </a:r>
            <a:r>
              <a:rPr sz="2000" spc="-10" dirty="0">
                <a:latin typeface="Times New Roman"/>
                <a:cs typeface="Times New Roman"/>
              </a:rPr>
              <a:t>values.</a:t>
            </a:r>
            <a:endParaRPr sz="2000">
              <a:latin typeface="Times New Roman"/>
              <a:cs typeface="Times New Roman"/>
            </a:endParaRPr>
          </a:p>
          <a:p>
            <a:pPr marL="329565" marR="50165" indent="-317500">
              <a:lnSpc>
                <a:spcPct val="100000"/>
              </a:lnSpc>
              <a:buFont typeface="Arial Black"/>
              <a:buChar char="□"/>
              <a:tabLst>
                <a:tab pos="331470" algn="l"/>
              </a:tabLst>
            </a:pPr>
            <a:r>
              <a:rPr sz="2000" b="1" dirty="0">
                <a:latin typeface="Times New Roman"/>
                <a:cs typeface="Times New Roman"/>
              </a:rPr>
              <a:t>Mean</a:t>
            </a:r>
            <a:r>
              <a:rPr sz="2000" b="1" spc="9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Imputation:</a:t>
            </a:r>
            <a:r>
              <a:rPr sz="2000" b="1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Replace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missing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numerical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average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column.</a:t>
            </a:r>
            <a:endParaRPr sz="2000">
              <a:latin typeface="Times New Roman"/>
              <a:cs typeface="Times New Roman"/>
            </a:endParaRPr>
          </a:p>
          <a:p>
            <a:pPr marL="329565" marR="15875" indent="-317500">
              <a:lnSpc>
                <a:spcPct val="100000"/>
              </a:lnSpc>
              <a:buFont typeface="Arial Black"/>
              <a:buChar char="□"/>
              <a:tabLst>
                <a:tab pos="331470" algn="l"/>
              </a:tabLst>
            </a:pPr>
            <a:r>
              <a:rPr sz="2000" b="1" dirty="0">
                <a:latin typeface="Times New Roman"/>
                <a:cs typeface="Times New Roman"/>
              </a:rPr>
              <a:t>Median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Imputation: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Replace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missing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middle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value 	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reduce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effect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outliers.</a:t>
            </a:r>
            <a:endParaRPr sz="2000">
              <a:latin typeface="Times New Roman"/>
              <a:cs typeface="Times New Roman"/>
            </a:endParaRPr>
          </a:p>
          <a:p>
            <a:pPr marL="329565" marR="36195" indent="-317500">
              <a:lnSpc>
                <a:spcPct val="100000"/>
              </a:lnSpc>
              <a:buFont typeface="Arial Black"/>
              <a:buChar char="□"/>
              <a:tabLst>
                <a:tab pos="331470" algn="l"/>
              </a:tabLst>
            </a:pPr>
            <a:r>
              <a:rPr sz="2000" b="1" dirty="0">
                <a:latin typeface="Times New Roman"/>
                <a:cs typeface="Times New Roman"/>
              </a:rPr>
              <a:t>Mode  Imputation:  </a:t>
            </a:r>
            <a:r>
              <a:rPr sz="2000" dirty="0">
                <a:latin typeface="Times New Roman"/>
                <a:cs typeface="Times New Roman"/>
              </a:rPr>
              <a:t>Fill  missing  values  with  the  most  </a:t>
            </a:r>
            <a:r>
              <a:rPr sz="2000" spc="-10" dirty="0">
                <a:latin typeface="Times New Roman"/>
                <a:cs typeface="Times New Roman"/>
              </a:rPr>
              <a:t>frequently 	</a:t>
            </a:r>
            <a:r>
              <a:rPr sz="2000" dirty="0">
                <a:latin typeface="Times New Roman"/>
                <a:cs typeface="Times New Roman"/>
              </a:rPr>
              <a:t>occurring </a:t>
            </a:r>
            <a:r>
              <a:rPr sz="2000" spc="-10" dirty="0"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  <a:p>
            <a:pPr marL="329565" marR="27305" indent="-317500">
              <a:lnSpc>
                <a:spcPct val="100000"/>
              </a:lnSpc>
              <a:buFont typeface="Arial Black"/>
              <a:buChar char="□"/>
              <a:tabLst>
                <a:tab pos="331470" algn="l"/>
              </a:tabLst>
            </a:pPr>
            <a:r>
              <a:rPr sz="2000" b="1" dirty="0">
                <a:latin typeface="Times New Roman"/>
                <a:cs typeface="Times New Roman"/>
              </a:rPr>
              <a:t>Forward</a:t>
            </a:r>
            <a:r>
              <a:rPr sz="2000" b="1" spc="3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Fill</a:t>
            </a:r>
            <a:r>
              <a:rPr sz="2000" b="1" spc="3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/</a:t>
            </a:r>
            <a:r>
              <a:rPr sz="2000" b="1" spc="3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Backward</a:t>
            </a:r>
            <a:r>
              <a:rPr sz="2000" b="1" spc="3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Fill:</a:t>
            </a:r>
            <a:r>
              <a:rPr sz="2000" b="1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Replace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missing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previous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next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979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spc="-40" dirty="0"/>
              <a:t> </a:t>
            </a:r>
            <a:r>
              <a:rPr dirty="0"/>
              <a:t>and</a:t>
            </a:r>
            <a:r>
              <a:rPr spc="-220" dirty="0"/>
              <a:t> </a:t>
            </a:r>
            <a:r>
              <a:rPr spc="-10" dirty="0"/>
              <a:t>Applications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09571"/>
            <a:ext cx="7238999" cy="11096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16865" algn="l"/>
              </a:tabLst>
            </a:pPr>
            <a:r>
              <a:rPr dirty="0"/>
              <a:t>Improves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overall</a:t>
            </a:r>
            <a:r>
              <a:rPr spc="-15" dirty="0"/>
              <a:t> </a:t>
            </a:r>
            <a:r>
              <a:rPr dirty="0"/>
              <a:t>quality</a:t>
            </a:r>
            <a:r>
              <a:rPr spc="-1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consistency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dataset.</a:t>
            </a:r>
          </a:p>
          <a:p>
            <a:pPr marL="316865" indent="-304165">
              <a:lnSpc>
                <a:spcPct val="100000"/>
              </a:lnSpc>
              <a:buFont typeface="Arial MT"/>
              <a:buChar char="•"/>
              <a:tabLst>
                <a:tab pos="316865" algn="l"/>
              </a:tabLst>
            </a:pPr>
            <a:r>
              <a:rPr dirty="0"/>
              <a:t>Increases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accuracy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dirty="0"/>
              <a:t>analysis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machine</a:t>
            </a:r>
            <a:r>
              <a:rPr spc="-20" dirty="0"/>
              <a:t> </a:t>
            </a:r>
            <a:r>
              <a:rPr dirty="0"/>
              <a:t>learning</a:t>
            </a:r>
            <a:r>
              <a:rPr spc="-10" dirty="0"/>
              <a:t> models.</a:t>
            </a:r>
          </a:p>
          <a:p>
            <a:pPr marL="316865" indent="-304165">
              <a:lnSpc>
                <a:spcPct val="100000"/>
              </a:lnSpc>
              <a:buFont typeface="Arial MT"/>
              <a:buChar char="•"/>
              <a:tabLst>
                <a:tab pos="316865" algn="l"/>
              </a:tabLst>
            </a:pPr>
            <a:r>
              <a:rPr dirty="0"/>
              <a:t>Reduces</a:t>
            </a:r>
            <a:r>
              <a:rPr spc="-30" dirty="0"/>
              <a:t> </a:t>
            </a:r>
            <a:r>
              <a:rPr dirty="0"/>
              <a:t>errors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prevents</a:t>
            </a:r>
            <a:r>
              <a:rPr spc="-25" dirty="0"/>
              <a:t> </a:t>
            </a:r>
            <a:r>
              <a:rPr dirty="0"/>
              <a:t>misleading</a:t>
            </a:r>
            <a:r>
              <a:rPr spc="-25" dirty="0"/>
              <a:t> </a:t>
            </a:r>
            <a:r>
              <a:rPr dirty="0"/>
              <a:t>analytical</a:t>
            </a:r>
            <a:r>
              <a:rPr spc="-25" dirty="0"/>
              <a:t> </a:t>
            </a:r>
            <a:r>
              <a:rPr spc="-10" dirty="0"/>
              <a:t>results.</a:t>
            </a:r>
          </a:p>
          <a:p>
            <a:pPr marL="316865" marR="1026160" indent="-304800">
              <a:lnSpc>
                <a:spcPct val="100000"/>
              </a:lnSpc>
              <a:buFont typeface="Arial MT"/>
              <a:buChar char="•"/>
              <a:tabLst>
                <a:tab pos="316865" algn="l"/>
              </a:tabLst>
            </a:pPr>
            <a:r>
              <a:rPr dirty="0"/>
              <a:t>Creates</a:t>
            </a:r>
            <a:r>
              <a:rPr spc="-25" dirty="0"/>
              <a:t> </a:t>
            </a:r>
            <a:r>
              <a:rPr dirty="0"/>
              <a:t>reliable</a:t>
            </a:r>
            <a:r>
              <a:rPr spc="-25" dirty="0"/>
              <a:t> </a:t>
            </a:r>
            <a:r>
              <a:rPr dirty="0"/>
              <a:t>charts,</a:t>
            </a:r>
            <a:r>
              <a:rPr spc="-20" dirty="0"/>
              <a:t> </a:t>
            </a:r>
            <a:r>
              <a:rPr dirty="0"/>
              <a:t>graphs,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visualizations</a:t>
            </a:r>
            <a:r>
              <a:rPr spc="-2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spc="-10" dirty="0"/>
              <a:t>better understanding.</a:t>
            </a:r>
          </a:p>
          <a:p>
            <a:pPr marL="316865" marR="63500" indent="-304800">
              <a:lnSpc>
                <a:spcPct val="100000"/>
              </a:lnSpc>
              <a:buFont typeface="Arial MT"/>
              <a:buChar char="•"/>
              <a:tabLst>
                <a:tab pos="316865" algn="l"/>
              </a:tabLst>
            </a:pPr>
            <a:r>
              <a:rPr dirty="0"/>
              <a:t>Commonly used in healthcare, banking, education, e-commerce, </a:t>
            </a:r>
            <a:r>
              <a:rPr spc="-25" dirty="0"/>
              <a:t>and </a:t>
            </a:r>
            <a:r>
              <a:rPr spc="-10" dirty="0"/>
              <a:t>finance.</a:t>
            </a:r>
          </a:p>
          <a:p>
            <a:pPr marL="316865" marR="374650" indent="-304800">
              <a:lnSpc>
                <a:spcPct val="100000"/>
              </a:lnSpc>
              <a:buFont typeface="Arial MT"/>
              <a:buChar char="•"/>
              <a:tabLst>
                <a:tab pos="316865" algn="l"/>
              </a:tabLst>
            </a:pPr>
            <a:r>
              <a:rPr dirty="0"/>
              <a:t>Proper</a:t>
            </a:r>
            <a:r>
              <a:rPr spc="-25" dirty="0"/>
              <a:t> </a:t>
            </a:r>
            <a:r>
              <a:rPr dirty="0"/>
              <a:t>missing</a:t>
            </a:r>
            <a:r>
              <a:rPr spc="-10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handling</a:t>
            </a:r>
            <a:r>
              <a:rPr spc="-15" dirty="0"/>
              <a:t> </a:t>
            </a:r>
            <a:r>
              <a:rPr dirty="0"/>
              <a:t>leads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better</a:t>
            </a:r>
            <a:r>
              <a:rPr spc="-10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insights</a:t>
            </a:r>
            <a:r>
              <a:rPr spc="-15" dirty="0"/>
              <a:t> </a:t>
            </a:r>
            <a:r>
              <a:rPr spc="-25" dirty="0"/>
              <a:t>and </a:t>
            </a:r>
            <a:r>
              <a:rPr dirty="0"/>
              <a:t>informed decision-</a:t>
            </a:r>
            <a:r>
              <a:rPr spc="-10" dirty="0"/>
              <a:t>making.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72DC3EE-C469-49E0-A83D-CA3BE525C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983580" y="0"/>
            <a:ext cx="7160418" cy="6858000"/>
          </a:xfrm>
          <a:custGeom>
            <a:avLst/>
            <a:gdLst>
              <a:gd name="connsiteX0" fmla="*/ 7924201 w 9547224"/>
              <a:gd name="connsiteY0" fmla="*/ 0 h 6858000"/>
              <a:gd name="connsiteX1" fmla="*/ 6830968 w 9547224"/>
              <a:gd name="connsiteY1" fmla="*/ 0 h 6858000"/>
              <a:gd name="connsiteX2" fmla="*/ 6514769 w 9547224"/>
              <a:gd name="connsiteY2" fmla="*/ 0 h 6858000"/>
              <a:gd name="connsiteX3" fmla="*/ 6050802 w 9547224"/>
              <a:gd name="connsiteY3" fmla="*/ 0 h 6858000"/>
              <a:gd name="connsiteX4" fmla="*/ 4341273 w 9547224"/>
              <a:gd name="connsiteY4" fmla="*/ 0 h 6858000"/>
              <a:gd name="connsiteX5" fmla="*/ 0 w 9547224"/>
              <a:gd name="connsiteY5" fmla="*/ 0 h 6858000"/>
              <a:gd name="connsiteX6" fmla="*/ 0 w 9547224"/>
              <a:gd name="connsiteY6" fmla="*/ 6858000 h 6858000"/>
              <a:gd name="connsiteX7" fmla="*/ 4341273 w 9547224"/>
              <a:gd name="connsiteY7" fmla="*/ 6858000 h 6858000"/>
              <a:gd name="connsiteX8" fmla="*/ 6050802 w 9547224"/>
              <a:gd name="connsiteY8" fmla="*/ 6858000 h 6858000"/>
              <a:gd name="connsiteX9" fmla="*/ 6514769 w 9547224"/>
              <a:gd name="connsiteY9" fmla="*/ 6858000 h 6858000"/>
              <a:gd name="connsiteX10" fmla="*/ 6830968 w 9547224"/>
              <a:gd name="connsiteY10" fmla="*/ 6858000 h 6858000"/>
              <a:gd name="connsiteX11" fmla="*/ 7044470 w 9547224"/>
              <a:gd name="connsiteY11" fmla="*/ 6858000 h 6858000"/>
              <a:gd name="connsiteX12" fmla="*/ 7156226 w 9547224"/>
              <a:gd name="connsiteY12" fmla="*/ 6780599 h 6858000"/>
              <a:gd name="connsiteX13" fmla="*/ 7672874 w 9547224"/>
              <a:gd name="connsiteY13" fmla="*/ 6374814 h 6858000"/>
              <a:gd name="connsiteX14" fmla="*/ 9547224 w 9547224"/>
              <a:gd name="connsiteY14" fmla="*/ 3621656 h 6858000"/>
              <a:gd name="connsiteX15" fmla="*/ 7946325 w 9547224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547224" h="6858000">
                <a:moveTo>
                  <a:pt x="7924201" y="0"/>
                </a:moveTo>
                <a:lnTo>
                  <a:pt x="6830968" y="0"/>
                </a:lnTo>
                <a:lnTo>
                  <a:pt x="6514769" y="0"/>
                </a:lnTo>
                <a:lnTo>
                  <a:pt x="6050802" y="0"/>
                </a:lnTo>
                <a:lnTo>
                  <a:pt x="4341273" y="0"/>
                </a:lnTo>
                <a:lnTo>
                  <a:pt x="0" y="0"/>
                </a:lnTo>
                <a:lnTo>
                  <a:pt x="0" y="6858000"/>
                </a:lnTo>
                <a:lnTo>
                  <a:pt x="4341273" y="6858000"/>
                </a:lnTo>
                <a:lnTo>
                  <a:pt x="6050802" y="6858000"/>
                </a:lnTo>
                <a:lnTo>
                  <a:pt x="6514769" y="6858000"/>
                </a:lnTo>
                <a:lnTo>
                  <a:pt x="6830968" y="6858000"/>
                </a:lnTo>
                <a:lnTo>
                  <a:pt x="7044470" y="6858000"/>
                </a:lnTo>
                <a:lnTo>
                  <a:pt x="7156226" y="6780599"/>
                </a:lnTo>
                <a:cubicBezTo>
                  <a:pt x="7330044" y="6653108"/>
                  <a:pt x="7500671" y="6515397"/>
                  <a:pt x="7672874" y="6374814"/>
                </a:cubicBezTo>
                <a:cubicBezTo>
                  <a:pt x="8618499" y="5602839"/>
                  <a:pt x="9547224" y="4969131"/>
                  <a:pt x="9547224" y="3621656"/>
                </a:cubicBezTo>
                <a:cubicBezTo>
                  <a:pt x="9547224" y="2093192"/>
                  <a:pt x="8973488" y="754641"/>
                  <a:pt x="7946325" y="14997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659154" y="0"/>
            <a:ext cx="1897292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813163" y="0"/>
            <a:ext cx="1902325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" name="Picture 2" descr="Thank You Stock Photos, Images and Backgrounds for Free Download">
            <a:extLst>
              <a:ext uri="{FF2B5EF4-FFF2-40B4-BE49-F238E27FC236}">
                <a16:creationId xmlns:a16="http://schemas.microsoft.com/office/drawing/2014/main" id="{A241EE9B-5FBD-D638-8863-BE9FA681B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1717880"/>
            <a:ext cx="5334000" cy="3388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366</Words>
  <Application>Microsoft Office PowerPoint</Application>
  <PresentationFormat>On-screen Show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Meiryo</vt:lpstr>
      <vt:lpstr>Arial</vt:lpstr>
      <vt:lpstr>Arial Black</vt:lpstr>
      <vt:lpstr>Arial MT</vt:lpstr>
      <vt:lpstr>Times New Roman</vt:lpstr>
      <vt:lpstr>Office Theme</vt:lpstr>
      <vt:lpstr>Missing Data Handling Techniques</vt:lpstr>
      <vt:lpstr>Introduction to Missing Data</vt:lpstr>
      <vt:lpstr>Causes and Types of Missing Data</vt:lpstr>
      <vt:lpstr>Missing Data Handling Techniques</vt:lpstr>
      <vt:lpstr>Advantages and Applications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FODS.pptx</dc:title>
  <dc:creator>Mohamed Asik</dc:creator>
  <cp:lastModifiedBy>Mohamed Asik</cp:lastModifiedBy>
  <cp:revision>4</cp:revision>
  <dcterms:created xsi:type="dcterms:W3CDTF">2026-08-01T03:08:40Z</dcterms:created>
  <dcterms:modified xsi:type="dcterms:W3CDTF">2026-09-03T03:45:28Z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2026-08-01T00:00:00Z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2026-08-01T00:00:00Z</vt:filetime>
  </property>
</Properties>
</file>